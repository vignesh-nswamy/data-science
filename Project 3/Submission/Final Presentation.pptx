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ontserrat"/>
      <p:regular r:id="rId18"/>
      <p:bold r:id="rId19"/>
      <p:italic r:id="rId20"/>
      <p:boldItalic r:id="rId21"/>
    </p:embeddedFont>
    <p:embeddedFont>
      <p:font typeface="Lato"/>
      <p:regular r:id="rId22"/>
      <p:bold r:id="rId23"/>
      <p:italic r:id="rId24"/>
      <p:boldItalic r:id="rId25"/>
    </p:embeddedFont>
    <p:embeddedFont>
      <p:font typeface="Pacifico"/>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Lato-regular.fntdata"/><Relationship Id="rId21" Type="http://schemas.openxmlformats.org/officeDocument/2006/relationships/font" Target="fonts/Montserrat-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acifico-regular.fntdata"/><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7a7ce133f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7a7ce133f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g7a81fca1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7a81fca1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g7a7ce133f8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7a7ce133f8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g7a7e0732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7a7e0732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g7a7e07329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7a7e0732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7a7e07329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7a7e07329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g7a7ce133f8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7a7ce133f8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g7a81fca19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7a81fca19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6" name="Shape 186"/>
        <p:cNvGrpSpPr/>
        <p:nvPr/>
      </p:nvGrpSpPr>
      <p:grpSpPr>
        <a:xfrm>
          <a:off x="0" y="0"/>
          <a:ext cx="0" cy="0"/>
          <a:chOff x="0" y="0"/>
          <a:chExt cx="0" cy="0"/>
        </a:xfrm>
      </p:grpSpPr>
      <p:sp>
        <p:nvSpPr>
          <p:cNvPr id="187" name="Google Shape;187;g7a81fca19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7a81fca19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2" name="Shape 192"/>
        <p:cNvGrpSpPr/>
        <p:nvPr/>
      </p:nvGrpSpPr>
      <p:grpSpPr>
        <a:xfrm>
          <a:off x="0" y="0"/>
          <a:ext cx="0" cy="0"/>
          <a:chOff x="0" y="0"/>
          <a:chExt cx="0" cy="0"/>
        </a:xfrm>
      </p:grpSpPr>
      <p:sp>
        <p:nvSpPr>
          <p:cNvPr id="193" name="Google Shape;193;g7a7f1a8b2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7a7f1a8b2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g7a81fca19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7a81fca19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c/GiveMeSomeCredit/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CS 418 - Final Project</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Vignesh Narayanaswamy, Arianna Brown, </a:t>
            </a:r>
            <a:endParaRPr/>
          </a:p>
          <a:p>
            <a:pPr indent="0" lvl="0" marL="0" rtl="0" algn="l">
              <a:spcBef>
                <a:spcPts val="0"/>
              </a:spcBef>
              <a:spcAft>
                <a:spcPts val="0"/>
              </a:spcAft>
              <a:buNone/>
            </a:pPr>
            <a:r>
              <a:rPr lang="en"/>
              <a:t>&amp; Warisa Siewsrichol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141" name="Google Shape;141;p14"/>
          <p:cNvSpPr txBox="1"/>
          <p:nvPr>
            <p:ph idx="1" type="body"/>
          </p:nvPr>
        </p:nvSpPr>
        <p:spPr>
          <a:xfrm>
            <a:off x="1297500" y="2134575"/>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Arial"/>
                <a:ea typeface="Arial"/>
                <a:cs typeface="Arial"/>
                <a:sym typeface="Arial"/>
              </a:rPr>
              <a:t>Our problem was predicting the probability that someone will experience financial distress in the next two years. We assessed the risk factors associated with low credit scores and found patterns that would help us predict financial distress.</a:t>
            </a:r>
            <a:endParaRPr sz="1800">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a:t>
            </a:r>
            <a:endParaRPr/>
          </a:p>
        </p:txBody>
      </p:sp>
      <p:sp>
        <p:nvSpPr>
          <p:cNvPr id="147" name="Google Shape;147;p15"/>
          <p:cNvSpPr txBox="1"/>
          <p:nvPr>
            <p:ph idx="1" type="body"/>
          </p:nvPr>
        </p:nvSpPr>
        <p:spPr>
          <a:xfrm>
            <a:off x="1297500" y="1914225"/>
            <a:ext cx="7038900" cy="2815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Arial"/>
              <a:buChar char="●"/>
            </a:pPr>
            <a:r>
              <a:rPr lang="en" sz="1800">
                <a:latin typeface="Arial"/>
                <a:ea typeface="Arial"/>
                <a:cs typeface="Arial"/>
                <a:sym typeface="Arial"/>
              </a:rPr>
              <a:t>Would be useful to improving the already-existing credit score algorithms banks use to decide whether a loan should be granted.</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To explore the attributes that play a major role in someone facing a financial distress.</a:t>
            </a:r>
            <a:endParaRPr sz="18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Source</a:t>
            </a:r>
            <a:endParaRPr/>
          </a:p>
        </p:txBody>
      </p:sp>
      <p:sp>
        <p:nvSpPr>
          <p:cNvPr id="153" name="Google Shape;153;p16"/>
          <p:cNvSpPr txBox="1"/>
          <p:nvPr>
            <p:ph idx="1" type="body"/>
          </p:nvPr>
        </p:nvSpPr>
        <p:spPr>
          <a:xfrm>
            <a:off x="1337775" y="2062800"/>
            <a:ext cx="7038900" cy="2873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Font typeface="Arial"/>
              <a:buChar char="●"/>
            </a:pPr>
            <a:r>
              <a:rPr lang="en" sz="1800" u="sng">
                <a:solidFill>
                  <a:srgbClr val="FFFFFF"/>
                </a:solidFill>
                <a:latin typeface="Arial"/>
                <a:ea typeface="Arial"/>
                <a:cs typeface="Arial"/>
                <a:sym typeface="Arial"/>
                <a:hlinkClick r:id="rId3"/>
              </a:rPr>
              <a:t>https://www.kaggle.com/c/GiveMeSomeCredit/data</a:t>
            </a:r>
            <a:r>
              <a:rPr lang="en" sz="1800">
                <a:solidFill>
                  <a:srgbClr val="FFFFFF"/>
                </a:solidFill>
                <a:latin typeface="Arial"/>
                <a:ea typeface="Arial"/>
                <a:cs typeface="Arial"/>
                <a:sym typeface="Arial"/>
              </a:rPr>
              <a:t> </a:t>
            </a:r>
            <a:endParaRPr sz="1800">
              <a:solidFill>
                <a:srgbClr val="FFFFFF"/>
              </a:solidFill>
              <a:latin typeface="Arial"/>
              <a:ea typeface="Arial"/>
              <a:cs typeface="Arial"/>
              <a:sym typeface="Arial"/>
            </a:endParaRPr>
          </a:p>
          <a:p>
            <a:pPr indent="-342900" lvl="0" marL="457200" rtl="0" algn="l">
              <a:spcBef>
                <a:spcPts val="0"/>
              </a:spcBef>
              <a:spcAft>
                <a:spcPts val="0"/>
              </a:spcAft>
              <a:buClr>
                <a:srgbClr val="FFFFFF"/>
              </a:buClr>
              <a:buSzPts val="1800"/>
              <a:buFont typeface="Arial"/>
              <a:buChar char="●"/>
            </a:pPr>
            <a:r>
              <a:rPr lang="en" sz="1800">
                <a:solidFill>
                  <a:srgbClr val="FFFFFF"/>
                </a:solidFill>
                <a:latin typeface="Arial"/>
                <a:ea typeface="Arial"/>
                <a:cs typeface="Arial"/>
                <a:sym typeface="Arial"/>
              </a:rPr>
              <a:t>Variables: Number of past due dates, Debt Ratio, Age, Monthly Income, Open Credit Cards, Loans etc</a:t>
            </a:r>
            <a:endParaRPr sz="1800">
              <a:solidFill>
                <a:srgbClr val="FFFFFF"/>
              </a:solidFill>
              <a:latin typeface="Arial"/>
              <a:ea typeface="Arial"/>
              <a:cs typeface="Arial"/>
              <a:sym typeface="Arial"/>
            </a:endParaRPr>
          </a:p>
          <a:p>
            <a:pPr indent="-342900" lvl="0" marL="457200" rtl="0" algn="l">
              <a:spcBef>
                <a:spcPts val="0"/>
              </a:spcBef>
              <a:spcAft>
                <a:spcPts val="0"/>
              </a:spcAft>
              <a:buClr>
                <a:srgbClr val="FFFFFF"/>
              </a:buClr>
              <a:buSzPts val="1800"/>
              <a:buFont typeface="Arial"/>
              <a:buChar char="●"/>
            </a:pPr>
            <a:r>
              <a:rPr lang="en" sz="1800">
                <a:solidFill>
                  <a:srgbClr val="FFFFFF"/>
                </a:solidFill>
                <a:latin typeface="Arial"/>
                <a:ea typeface="Arial"/>
                <a:cs typeface="Arial"/>
                <a:sym typeface="Arial"/>
              </a:rPr>
              <a:t>Size of Data set: 252,000 entries </a:t>
            </a:r>
            <a:endParaRPr sz="1800">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35725" y="702675"/>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Science Solution Description: </a:t>
            </a:r>
            <a:endParaRPr/>
          </a:p>
          <a:p>
            <a:pPr indent="0" lvl="0" marL="0" rtl="0" algn="ctr">
              <a:spcBef>
                <a:spcPts val="0"/>
              </a:spcBef>
              <a:spcAft>
                <a:spcPts val="0"/>
              </a:spcAft>
              <a:buNone/>
            </a:pPr>
            <a:r>
              <a:rPr lang="en" sz="2200"/>
              <a:t>Preparing Data and Cleaning</a:t>
            </a:r>
            <a:endParaRPr sz="2200"/>
          </a:p>
        </p:txBody>
      </p:sp>
      <p:sp>
        <p:nvSpPr>
          <p:cNvPr id="159" name="Google Shape;159;p17"/>
          <p:cNvSpPr txBox="1"/>
          <p:nvPr>
            <p:ph idx="1" type="body"/>
          </p:nvPr>
        </p:nvSpPr>
        <p:spPr>
          <a:xfrm>
            <a:off x="1235725" y="2758675"/>
            <a:ext cx="7038900" cy="145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Arial"/>
              <a:buChar char="●"/>
            </a:pPr>
            <a:r>
              <a:rPr lang="en" sz="1800">
                <a:latin typeface="Arial"/>
                <a:ea typeface="Arial"/>
                <a:cs typeface="Arial"/>
                <a:sym typeface="Arial"/>
              </a:rPr>
              <a:t>Outlier </a:t>
            </a:r>
            <a:r>
              <a:rPr lang="en" sz="1800">
                <a:latin typeface="Arial"/>
                <a:ea typeface="Arial"/>
                <a:cs typeface="Arial"/>
                <a:sym typeface="Arial"/>
              </a:rPr>
              <a:t>Detection</a:t>
            </a:r>
            <a:r>
              <a:rPr lang="en" sz="1800">
                <a:latin typeface="Arial"/>
                <a:ea typeface="Arial"/>
                <a:cs typeface="Arial"/>
                <a:sym typeface="Arial"/>
              </a:rPr>
              <a:t> and Removal </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Handling Skewed Data </a:t>
            </a:r>
            <a:endParaRPr sz="18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a:t>
            </a:r>
            <a:endParaRPr/>
          </a:p>
        </p:txBody>
      </p:sp>
      <p:pic>
        <p:nvPicPr>
          <p:cNvPr id="165" name="Google Shape;165;p18"/>
          <p:cNvPicPr preferRelativeResize="0"/>
          <p:nvPr/>
        </p:nvPicPr>
        <p:blipFill>
          <a:blip r:embed="rId3">
            <a:alphaModFix/>
          </a:blip>
          <a:stretch>
            <a:fillRect/>
          </a:stretch>
        </p:blipFill>
        <p:spPr>
          <a:xfrm>
            <a:off x="1526225" y="1215075"/>
            <a:ext cx="6581450" cy="3322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a:t>
            </a:r>
            <a:endParaRPr/>
          </a:p>
        </p:txBody>
      </p:sp>
      <p:pic>
        <p:nvPicPr>
          <p:cNvPr id="171" name="Google Shape;171;p19"/>
          <p:cNvPicPr preferRelativeResize="0"/>
          <p:nvPr/>
        </p:nvPicPr>
        <p:blipFill>
          <a:blip r:embed="rId3">
            <a:alphaModFix/>
          </a:blip>
          <a:stretch>
            <a:fillRect/>
          </a:stretch>
        </p:blipFill>
        <p:spPr>
          <a:xfrm>
            <a:off x="1297500" y="967950"/>
            <a:ext cx="7038899" cy="3396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Science Solution Description:</a:t>
            </a:r>
            <a:endParaRPr/>
          </a:p>
          <a:p>
            <a:pPr indent="0" lvl="0" marL="0" rtl="0" algn="ctr">
              <a:spcBef>
                <a:spcPts val="0"/>
              </a:spcBef>
              <a:spcAft>
                <a:spcPts val="0"/>
              </a:spcAft>
              <a:buNone/>
            </a:pPr>
            <a:r>
              <a:rPr lang="en" sz="2200"/>
              <a:t>Modeling </a:t>
            </a:r>
            <a:endParaRPr sz="2200"/>
          </a:p>
        </p:txBody>
      </p:sp>
      <p:sp>
        <p:nvSpPr>
          <p:cNvPr id="177" name="Google Shape;177;p20"/>
          <p:cNvSpPr txBox="1"/>
          <p:nvPr>
            <p:ph idx="1" type="body"/>
          </p:nvPr>
        </p:nvSpPr>
        <p:spPr>
          <a:xfrm>
            <a:off x="1297500" y="2377200"/>
            <a:ext cx="7038900" cy="2101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Font typeface="Arial"/>
              <a:buChar char="●"/>
            </a:pPr>
            <a:r>
              <a:rPr lang="en" sz="1800">
                <a:solidFill>
                  <a:srgbClr val="FFFFFF"/>
                </a:solidFill>
                <a:latin typeface="Arial"/>
                <a:ea typeface="Arial"/>
                <a:cs typeface="Arial"/>
                <a:sym typeface="Arial"/>
              </a:rPr>
              <a:t>Classification: To predict a person would be under financial distress in the next 2 years.</a:t>
            </a:r>
            <a:endParaRPr sz="1800">
              <a:solidFill>
                <a:srgbClr val="FFFFFF"/>
              </a:solidFill>
              <a:latin typeface="Arial"/>
              <a:ea typeface="Arial"/>
              <a:cs typeface="Arial"/>
              <a:sym typeface="Arial"/>
            </a:endParaRPr>
          </a:p>
          <a:p>
            <a:pPr indent="-342900" lvl="0" marL="457200" rtl="0" algn="l">
              <a:spcBef>
                <a:spcPts val="0"/>
              </a:spcBef>
              <a:spcAft>
                <a:spcPts val="0"/>
              </a:spcAft>
              <a:buClr>
                <a:srgbClr val="FFFFFF"/>
              </a:buClr>
              <a:buSzPts val="1800"/>
              <a:buFont typeface="Arial"/>
              <a:buChar char="●"/>
            </a:pPr>
            <a:r>
              <a:rPr lang="en" sz="1800">
                <a:solidFill>
                  <a:srgbClr val="FFFFFF"/>
                </a:solidFill>
                <a:latin typeface="Arial"/>
                <a:ea typeface="Arial"/>
                <a:cs typeface="Arial"/>
                <a:sym typeface="Arial"/>
              </a:rPr>
              <a:t>Clustering: To find trends that can be noticed in customers that face a financial distress.</a:t>
            </a:r>
            <a:endParaRPr sz="1800">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Classification Results</a:t>
            </a:r>
            <a:endParaRPr/>
          </a:p>
        </p:txBody>
      </p:sp>
      <p:sp>
        <p:nvSpPr>
          <p:cNvPr id="183" name="Google Shape;183;p21"/>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84" name="Google Shape;184;p21"/>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Interpretation</a:t>
            </a:r>
            <a:endParaRPr u="sng"/>
          </a:p>
          <a:p>
            <a:pPr indent="0" lvl="0" marL="0" rtl="0" algn="l">
              <a:spcBef>
                <a:spcPts val="1600"/>
              </a:spcBef>
              <a:spcAft>
                <a:spcPts val="1600"/>
              </a:spcAft>
              <a:buNone/>
            </a:pPr>
            <a:r>
              <a:rPr lang="en"/>
              <a:t>For the 10th and 19th observations, we see a high probability of financial distress and thus the truth value specified by </a:t>
            </a:r>
            <a:r>
              <a:rPr i="1" lang="en"/>
              <a:t>SeriousDlqin2yrs</a:t>
            </a:r>
            <a:r>
              <a:rPr lang="en"/>
              <a:t> is 1.</a:t>
            </a:r>
            <a:endParaRPr/>
          </a:p>
        </p:txBody>
      </p:sp>
      <p:pic>
        <p:nvPicPr>
          <p:cNvPr id="185" name="Google Shape;185;p21"/>
          <p:cNvPicPr preferRelativeResize="0"/>
          <p:nvPr/>
        </p:nvPicPr>
        <p:blipFill>
          <a:blip r:embed="rId3">
            <a:alphaModFix/>
          </a:blip>
          <a:stretch>
            <a:fillRect/>
          </a:stretch>
        </p:blipFill>
        <p:spPr>
          <a:xfrm>
            <a:off x="1297500" y="1567550"/>
            <a:ext cx="3403200" cy="2911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1099400" y="49525"/>
            <a:ext cx="7038900" cy="78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Clustering </a:t>
            </a:r>
            <a:endParaRPr/>
          </a:p>
          <a:p>
            <a:pPr indent="0" lvl="0" marL="0" rtl="0" algn="ctr">
              <a:spcBef>
                <a:spcPts val="0"/>
              </a:spcBef>
              <a:spcAft>
                <a:spcPts val="0"/>
              </a:spcAft>
              <a:buNone/>
            </a:pPr>
            <a:r>
              <a:rPr lang="en" sz="2200"/>
              <a:t>Scatter Plots</a:t>
            </a:r>
            <a:endParaRPr sz="2200"/>
          </a:p>
        </p:txBody>
      </p:sp>
      <p:pic>
        <p:nvPicPr>
          <p:cNvPr id="191" name="Google Shape;191;p22"/>
          <p:cNvPicPr preferRelativeResize="0"/>
          <p:nvPr/>
        </p:nvPicPr>
        <p:blipFill>
          <a:blip r:embed="rId3">
            <a:alphaModFix/>
          </a:blip>
          <a:stretch>
            <a:fillRect/>
          </a:stretch>
        </p:blipFill>
        <p:spPr>
          <a:xfrm>
            <a:off x="1600200" y="789125"/>
            <a:ext cx="5943600" cy="4305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5" name="Shape 195"/>
        <p:cNvGrpSpPr/>
        <p:nvPr/>
      </p:nvGrpSpPr>
      <p:grpSpPr>
        <a:xfrm>
          <a:off x="0" y="0"/>
          <a:ext cx="0" cy="0"/>
          <a:chOff x="0" y="0"/>
          <a:chExt cx="0" cy="0"/>
        </a:xfrm>
      </p:grpSpPr>
      <p:sp>
        <p:nvSpPr>
          <p:cNvPr id="196" name="Google Shape;196;p23"/>
          <p:cNvSpPr txBox="1"/>
          <p:nvPr>
            <p:ph type="title"/>
          </p:nvPr>
        </p:nvSpPr>
        <p:spPr>
          <a:xfrm>
            <a:off x="1052550" y="471575"/>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Clustering Results</a:t>
            </a:r>
            <a:endParaRPr/>
          </a:p>
        </p:txBody>
      </p:sp>
      <p:pic>
        <p:nvPicPr>
          <p:cNvPr id="197" name="Google Shape;197;p23"/>
          <p:cNvPicPr preferRelativeResize="0"/>
          <p:nvPr/>
        </p:nvPicPr>
        <p:blipFill>
          <a:blip r:embed="rId3">
            <a:alphaModFix/>
          </a:blip>
          <a:stretch>
            <a:fillRect/>
          </a:stretch>
        </p:blipFill>
        <p:spPr>
          <a:xfrm>
            <a:off x="1099300" y="1714950"/>
            <a:ext cx="6992149" cy="2650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823850" y="1018800"/>
            <a:ext cx="7362000" cy="360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Pacifico"/>
                <a:ea typeface="Pacifico"/>
                <a:cs typeface="Pacifico"/>
                <a:sym typeface="Pacifico"/>
              </a:rPr>
              <a:t>Thank You</a:t>
            </a:r>
            <a:endParaRPr sz="3600">
              <a:latin typeface="Pacifico"/>
              <a:ea typeface="Pacifico"/>
              <a:cs typeface="Pacifico"/>
              <a:sym typeface="Pacific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